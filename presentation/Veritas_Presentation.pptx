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8BDF8"/>
                </a:solidFill>
              </a:defRPr>
            </a:pPr>
            <a:r>
              <a:t>PROJECT PRESENTATION  •  EXPLAINABLE AI &amp; MULTIMODAL VERIFICATION</a:t>
            </a:r>
          </a:p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VERITAS: Explainable Fake &amp; AI News Detection</a:t>
            </a:r>
          </a:p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</a:defRPr>
            </a:pPr>
            <a:r>
              <a:t>From Static NLP Claim Benchmarks to Real-Time Cross-Source Corroboration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A multi-modal defense architecture that unifies real-time Google News RSS cross-checking, formal evidence mathematics, C2PA &amp; SynthID synthetic media forensics, and zero-friction client intervention.</a:t>
            </a:r>
          </a:p>
          <a:p>
            <a:pPr>
              <a:defRPr sz="1100">
                <a:solidFill>
                  <a:srgbClr val="FBBF24"/>
                </a:solidFill>
              </a:defRPr>
            </a:pPr>
            <a:r>
              <a:t>Key Inventions: Real-Time Corroboration  |  Evidence Score Math (E)  |  Media Provenance  |  Chrome MV3 &amp; WhatsApp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5138927"/>
            <a:ext cx="1045433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257800"/>
            <a:ext cx="103263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The Fundamental Problem: </a:t>
            </a:r>
            <a:r>
              <a:rPr b="0" sz="950">
                <a:solidFill>
                  <a:srgbClr val="94A3B8"/>
                </a:solidFill>
              </a:rPr>
              <a:t>Black-box AI models output opaque percentage scores that hallucinate and perpetuate publisher bias. Veritas replaces opacity with verifiable primary sources and mathematically bounded evidence.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System Breakthrough: </a:t>
            </a:r>
            <a:r>
              <a:rPr b="0" sz="950">
                <a:solidFill>
                  <a:srgbClr val="94A3B8"/>
                </a:solidFill>
              </a:rPr>
              <a:t>Deterministic Evidence Score (E = 0.30M + 0.30C + 0.20F + 0.20S) delivered via in-place Shadow DOM browser banners and bilingual WhatsApp chat.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LITERATURE BASELINE  •  </a:t>
            </a:r>
            <a:r>
              <a:rPr sz="1050" b="1">
                <a:solidFill>
                  <a:srgbClr val="F87171"/>
                </a:solidFill>
              </a:rPr>
              <a:t>[BASE PAPER ANALYSIS]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Base Paper: Methodology, Benchmark &amp; Critical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18488"/>
            <a:ext cx="30632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084FC"/>
                </a:solidFill>
              </a:defRPr>
            </a:pPr>
            <a:r>
              <a:t>1. The Base Paper Benchmark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Reference Paper: </a:t>
            </a:r>
            <a:r>
              <a:rPr b="0" sz="950">
                <a:solidFill>
                  <a:srgbClr val="94A3B8"/>
                </a:solidFill>
              </a:rPr>
              <a:t>William Yang Wang (ACL 2017): '"Liar, Liar Pants on Fire": A New Benchmark Dataset for Fake News Detection'.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Dataset (LIAR): </a:t>
            </a:r>
            <a:r>
              <a:rPr b="0" sz="950">
                <a:solidFill>
                  <a:srgbClr val="94A3B8"/>
                </a:solidFill>
              </a:rPr>
              <a:t>12,836 labeled short statements from PolitiFact rated across 6 fine-grained truth classes.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Model Methodology: </a:t>
            </a:r>
            <a:r>
              <a:rPr b="0" sz="950">
                <a:solidFill>
                  <a:srgbClr val="94A3B8"/>
                </a:solidFill>
              </a:rPr>
              <a:t>Trained text classifiers (Logistic Regression, SVM, CNN, Bi-LSTM) on claim strings + metadata.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Baseline Finding: </a:t>
            </a:r>
            <a:r>
              <a:rPr b="0" sz="950">
                <a:solidFill>
                  <a:srgbClr val="94A3B8"/>
                </a:solidFill>
              </a:rPr>
              <a:t>Adding metadata (speaker, party, credit history) boosted accuracy, but exposed severe real-world vulnerabilities.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18488"/>
            <a:ext cx="306324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87171"/>
                </a:solidFill>
              </a:defRPr>
            </a:pPr>
            <a:r>
              <a:t>2. Fatal Limitations of Base Paper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[LIMITATION] Static Vacuum: </a:t>
            </a:r>
            <a:r>
              <a:rPr b="0" sz="950">
                <a:solidFill>
                  <a:srgbClr val="94A3B8"/>
                </a:solidFill>
              </a:rPr>
              <a:t>Evaluates isolated statements offline. Never checks live web or credible news wires to verify ongoing events.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[LIMITATION] Metadata Bias: </a:t>
            </a:r>
            <a:r>
              <a:rPr b="0" sz="950">
                <a:solidFill>
                  <a:srgbClr val="94A3B8"/>
                </a:solidFill>
              </a:rPr>
              <a:t>Memorizes speaker identity and party affiliation rather than evaluating factual claims. Fails completely on new publishers.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[LIMITATION] Black-Box Opacity: </a:t>
            </a:r>
            <a:r>
              <a:rPr b="0" sz="950">
                <a:solidFill>
                  <a:srgbClr val="94A3B8"/>
                </a:solidFill>
              </a:rPr>
              <a:t>Outputs an arbitrary softmax probability. Cites zero primary source links or verifiable facts to readers.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[LIMITATION] Blind to Generative AI: </a:t>
            </a:r>
            <a:r>
              <a:rPr b="0" sz="950">
                <a:solidFill>
                  <a:srgbClr val="94A3B8"/>
                </a:solidFill>
              </a:rPr>
              <a:t>Authored before modern generative LLMs, Midjourney, and synthetic deepfakes; lacks provenance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18488"/>
            <a:ext cx="30632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BBF24"/>
                </a:solidFill>
              </a:defRPr>
            </a:pPr>
            <a:r>
              <a:t>3. The Research Gaps Veritas Solves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[GAP] Static to Real-Time: </a:t>
            </a:r>
            <a:r>
              <a:rPr b="0" sz="950">
                <a:solidFill>
                  <a:srgbClr val="94A3B8"/>
                </a:solidFill>
              </a:rPr>
              <a:t>Misinformation spreads in minutes. Fact-checking demands active web retrieval rather than frozen model weights.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[GAP] Truth to Evidence: </a:t>
            </a:r>
            <a:r>
              <a:rPr b="0" sz="950">
                <a:solidFill>
                  <a:srgbClr val="94A3B8"/>
                </a:solidFill>
              </a:rPr>
              <a:t>Algorithms cannot act as arbiters of absolute truth; they must surface consensus across trusted, independent newsrooms.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7171"/>
                </a:solidFill>
              </a:rPr>
              <a:t>[GAP] Offline to In-Place: </a:t>
            </a:r>
            <a:r>
              <a:rPr b="0" sz="950">
                <a:solidFill>
                  <a:srgbClr val="94A3B8"/>
                </a:solidFill>
              </a:rPr>
              <a:t>Academic benchmark scripts cannot protect real users. Production demands direct browser banners and chat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PROPOSED SYSTEM  •  </a:t>
            </a:r>
            <a:r>
              <a:rPr sz="1050" b="1">
                <a:solidFill>
                  <a:srgbClr val="38BDF8"/>
                </a:solidFill>
              </a:rPr>
              <a:t>[CORE ENGINEERING SHIFTS]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System: How Veritas Changes &amp; Advances the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18488"/>
            <a:ext cx="3063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8BDF8"/>
                </a:solidFill>
              </a:defRPr>
            </a:pPr>
            <a:r>
              <a:t>1. Live Cross-Source Retrieval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Base Paper Baseline: </a:t>
            </a:r>
            <a:r>
              <a:rPr b="0" sz="950">
                <a:solidFill>
                  <a:srgbClr val="94A3B8"/>
                </a:solidFill>
              </a:rPr>
              <a:t>Classified isolated past sentences with zero external news lookup.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Veritas Engineering Shift: </a:t>
            </a:r>
            <a:r>
              <a:rPr b="0" sz="950">
                <a:solidFill>
                  <a:srgbClr val="94A3B8"/>
                </a:solidFill>
              </a:rPr>
              <a:t>Asynchronous parallel Google News RSS retrieval engine across 5–10 reference outlets.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Tiered Source Registry: </a:t>
            </a:r>
            <a:r>
              <a:rPr b="0" sz="950">
                <a:solidFill>
                  <a:srgbClr val="94A3B8"/>
                </a:solidFill>
              </a:rPr>
              <a:t>Weighted Tier 1 (Reuters, BBC, PTI: 1.00), Tier 2 (National Dailies: 0.85), Tier 3 (Regional: 0.65).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Freshness Guardrails: </a:t>
            </a:r>
            <a:r>
              <a:rPr b="0" sz="950">
                <a:solidFill>
                  <a:srgbClr val="94A3B8"/>
                </a:solidFill>
              </a:rPr>
              <a:t>Breaking news filter with median reference age check (&lt;=2.0h) prevents falsely penalizing developing news.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18488"/>
            <a:ext cx="30632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2. Formal Evidence Math (E)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Base Paper Baseline: </a:t>
            </a:r>
            <a:r>
              <a:rPr b="0" sz="950">
                <a:solidFill>
                  <a:srgbClr val="94A3B8"/>
                </a:solidFill>
              </a:rPr>
              <a:t>Opaque softmax probability from neural network black-boxes.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Veritas Engineering Shift: </a:t>
            </a:r>
            <a:r>
              <a:rPr b="0" sz="950">
                <a:solidFill>
                  <a:srgbClr val="94A3B8"/>
                </a:solidFill>
              </a:rPr>
              <a:t>Deterministic Evidence Score bounded 0–100 with verifiable math: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Mathematical Formula: </a:t>
            </a:r>
            <a:r>
              <a:rPr b="0" sz="950">
                <a:solidFill>
                  <a:srgbClr val="94A3B8"/>
                </a:solidFill>
              </a:rPr>
              <a:t>E = 0.30·M + 0.30·C + 0.20·F + 0.20·S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M (Semantic Match): </a:t>
            </a:r>
            <a:r>
              <a:rPr b="0" sz="950">
                <a:solidFill>
                  <a:srgbClr val="94A3B8"/>
                </a:solidFill>
              </a:rPr>
              <a:t>Recall-focused content word overlap.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C (Consensus): </a:t>
            </a:r>
            <a:r>
              <a:rPr b="0" sz="950">
                <a:solidFill>
                  <a:srgbClr val="94A3B8"/>
                </a:solidFill>
              </a:rPr>
              <a:t>Supporting vs. refuting outlet ratio.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F (Factual Consistency): </a:t>
            </a:r>
            <a:r>
              <a:rPr b="0" sz="950">
                <a:solidFill>
                  <a:srgbClr val="94A3B8"/>
                </a:solidFill>
              </a:rPr>
              <a:t>Entities, dates &amp; Google Fact Check API.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S (Source Quality): </a:t>
            </a:r>
            <a:r>
              <a:rPr b="0" sz="950">
                <a:solidFill>
                  <a:srgbClr val="94A3B8"/>
                </a:solidFill>
              </a:rPr>
              <a:t>Journalistic credibility weighting.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Contradiction Invariant: </a:t>
            </a:r>
            <a:r>
              <a:rPr b="0" sz="950">
                <a:solidFill>
                  <a:srgbClr val="94A3B8"/>
                </a:solidFill>
              </a:rPr>
              <a:t>-15 penalty if Tier-1 outlet refutes.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37560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18488"/>
            <a:ext cx="30632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37360"/>
            <a:ext cx="293522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084FC"/>
                </a:solidFill>
              </a:defRPr>
            </a:pPr>
            <a:r>
              <a:t>3. Multimodal Forensics &amp; UI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Base Paper Baseline: </a:t>
            </a:r>
            <a:r>
              <a:rPr b="0" sz="950">
                <a:solidFill>
                  <a:srgbClr val="94A3B8"/>
                </a:solidFill>
              </a:rPr>
              <a:t>Text-only ASCII claim strings; zero user interface.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Veritas Engineering Shift: </a:t>
            </a:r>
            <a:r>
              <a:rPr b="0" sz="950">
                <a:solidFill>
                  <a:srgbClr val="94A3B8"/>
                </a:solidFill>
              </a:rPr>
              <a:t>Multi-modal provenance + dual real-world delivery platforms: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C2PA &amp; SynthID Forensics: </a:t>
            </a:r>
            <a:r>
              <a:rPr b="0" sz="950">
                <a:solidFill>
                  <a:srgbClr val="94A3B8"/>
                </a:solidFill>
              </a:rPr>
              <a:t>Decodes cryptographic JUMBF manifests &amp; imperceptible DeepMind watermarks.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Stylometric AI Cues: </a:t>
            </a:r>
            <a:r>
              <a:rPr b="0" sz="950">
                <a:solidFill>
                  <a:srgbClr val="94A3B8"/>
                </a:solidFill>
              </a:rPr>
              <a:t>Flags flat sentence burstiness, lexical TTR, and stock LLM clichés ('delve', 'tapestry').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In-Place Chrome MV3: </a:t>
            </a:r>
            <a:r>
              <a:rPr b="0" sz="950">
                <a:solidFill>
                  <a:srgbClr val="94A3B8"/>
                </a:solidFill>
              </a:rPr>
              <a:t>Shadow DOM banner with 0% style collision.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Bilingual WhatsApp Bot: </a:t>
            </a:r>
            <a:r>
              <a:rPr b="0" sz="950">
                <a:solidFill>
                  <a:srgbClr val="94A3B8"/>
                </a:solidFill>
              </a:rPr>
              <a:t>Twilio webhook (Port 8001) in EN + Hindi.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PIPELINE ARCHITECTURE  •  </a:t>
            </a:r>
            <a:r>
              <a:rPr sz="1050" b="1">
                <a:solidFill>
                  <a:srgbClr val="34D399"/>
                </a:solidFill>
              </a:rPr>
              <a:t>[IMPLEMENTATION STATUS]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Pipeline Architecture: Completed vs. Planned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45919"/>
            <a:ext cx="10326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PIPELINE STATUS COLOR CODING:   </a:t>
            </a:r>
            <a:r>
              <a:rPr b="0" sz="950">
                <a:solidFill>
                  <a:srgbClr val="94A3B8"/>
                </a:solidFill>
              </a:rPr>
              <a:t>[DONE] = Fully implemented, tested &amp; operational (Emerald Green)    |    [NOT DONE] = In-progress or future architecture (Amber)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04288"/>
            <a:ext cx="2514600" cy="4069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2322576"/>
            <a:ext cx="224028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41448"/>
            <a:ext cx="211226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Stage 1: Client &amp; Ingestion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Shadow DOM Banner: </a:t>
            </a:r>
            <a:r>
              <a:rPr b="0" sz="950">
                <a:solidFill>
                  <a:srgbClr val="94A3B8"/>
                </a:solidFill>
              </a:rPr>
              <a:t>MV3 Chrome extension injects isolated Shadow DOM; 0% CSS clash.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Service Worker Relay: </a:t>
            </a:r>
            <a:r>
              <a:rPr b="0" sz="950">
                <a:solidFill>
                  <a:srgbClr val="94A3B8"/>
                </a:solidFill>
              </a:rPr>
              <a:t>MV3 background worker proxies requests, avoiding mixed-content.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WhatsApp Webhook: </a:t>
            </a:r>
            <a:r>
              <a:rPr b="0" sz="950">
                <a:solidFill>
                  <a:srgbClr val="94A3B8"/>
                </a:solidFill>
              </a:rPr>
              <a:t>Twilio endpoint (Port 8001) parses forwarded URLs &amp; text.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Anti-SSRF Shield: </a:t>
            </a:r>
            <a:r>
              <a:rPr b="0" sz="950">
                <a:solidFill>
                  <a:srgbClr val="94A3B8"/>
                </a:solidFill>
              </a:rPr>
              <a:t>Blocks private IP ranges &amp; validates HTTP/HTTPS schemes.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334155"/>
                </a:solidFill>
              </a:rPr>
              <a:t>⎯⎯⎯⎯⎯⎯⎯⎯⎯⎯⎯⎯⎯⎯⎯⎯⎯⎯⎯⎯⎯⎯⎯⎯⎯⎯⎯⎯⎯⎯⎯⎯⎯⎯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Safari &amp; Firefox: </a:t>
            </a:r>
            <a:r>
              <a:rPr b="0" sz="950">
                <a:solidFill>
                  <a:srgbClr val="94A3B8"/>
                </a:solidFill>
              </a:rPr>
              <a:t>Cross-browser port to Firefox MV2/MV3 and Safari WebExtension.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Mobile Share-Sheet: </a:t>
            </a:r>
            <a:r>
              <a:rPr b="0" sz="950">
                <a:solidFill>
                  <a:srgbClr val="94A3B8"/>
                </a:solidFill>
              </a:rPr>
              <a:t>iOS/Android native share intent receiver for instant fact-checking.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304288"/>
            <a:ext cx="2514600" cy="4069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2322576"/>
            <a:ext cx="224028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441448"/>
            <a:ext cx="211226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Stage 2: Cross-Checking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FastAPI Pipeline: </a:t>
            </a:r>
            <a:r>
              <a:rPr b="0" sz="950">
                <a:solidFill>
                  <a:srgbClr val="94A3B8"/>
                </a:solidFill>
              </a:rPr>
              <a:t>Parallel sub-second orchestration across all 4 detection engines.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Claim Distillation: </a:t>
            </a:r>
            <a:r>
              <a:rPr b="0" sz="950">
                <a:solidFill>
                  <a:srgbClr val="94A3B8"/>
                </a:solidFill>
              </a:rPr>
              <a:t>Regex rule engine with Gemini structured claim fallback.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Parallel RSS Feeds: </a:t>
            </a:r>
            <a:r>
              <a:rPr b="0" sz="950">
                <a:solidFill>
                  <a:srgbClr val="94A3B8"/>
                </a:solidFill>
              </a:rPr>
              <a:t>Dispatches 2–3 targeted queries to Google News across Tier 1/2/3.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Consensus Engine: </a:t>
            </a:r>
            <a:r>
              <a:rPr b="0" sz="950">
                <a:solidFill>
                  <a:srgbClr val="94A3B8"/>
                </a:solidFill>
              </a:rPr>
              <a:t>Weighted consensus matrix computing supporting vs refuting pools.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334155"/>
                </a:solidFill>
              </a:rPr>
              <a:t>⎯⎯⎯⎯⎯⎯⎯⎯⎯⎯⎯⎯⎯⎯⎯⎯⎯⎯⎯⎯⎯⎯⎯⎯⎯⎯⎯⎯⎯⎯⎯⎯⎯⎯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Redis Cache: </a:t>
            </a:r>
            <a:r>
              <a:rPr b="0" sz="950">
                <a:solidFill>
                  <a:srgbClr val="94A3B8"/>
                </a:solidFill>
              </a:rPr>
              <a:t>Distributed multi-region cache (currently thread-safe in-memory TTL).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Async Queues: </a:t>
            </a:r>
            <a:r>
              <a:rPr b="0" sz="950">
                <a:solidFill>
                  <a:srgbClr val="94A3B8"/>
                </a:solidFill>
              </a:rPr>
              <a:t>Celery/RabbitMQ worker queue for 1,000+ simultaneous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04288"/>
            <a:ext cx="2514600" cy="4069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322576"/>
            <a:ext cx="224028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41448"/>
            <a:ext cx="2112264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BBF24"/>
                </a:solidFill>
              </a:defRPr>
            </a:pPr>
            <a:r>
              <a:t>Stage 3: AI Forensics &amp; ML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C2PA Provenance: </a:t>
            </a:r>
            <a:r>
              <a:rPr b="0" sz="950">
                <a:solidFill>
                  <a:srgbClr val="94A3B8"/>
                </a:solidFill>
              </a:rPr>
              <a:t>Cryptographic JUMBF manifest &amp; IPTC Digital Source validation.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SynthID Markers: </a:t>
            </a:r>
            <a:r>
              <a:rPr b="0" sz="950">
                <a:solidFill>
                  <a:srgbClr val="94A3B8"/>
                </a:solidFill>
              </a:rPr>
              <a:t>Detects DeepMind imperceptible watermarks &amp; generator EXIF tags.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Stylometrics: </a:t>
            </a:r>
            <a:r>
              <a:rPr b="0" sz="950">
                <a:solidFill>
                  <a:srgbClr val="94A3B8"/>
                </a:solidFill>
              </a:rPr>
              <a:t>Sentence burstiness, lexical diversity (TTR) &amp; stock LLM dictionary.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70% Precision Gate: </a:t>
            </a:r>
            <a:r>
              <a:rPr b="0" sz="950">
                <a:solidFill>
                  <a:srgbClr val="94A3B8"/>
                </a:solidFill>
              </a:rPr>
              <a:t>Blocks unqualified ML models from altering verdicts (shadow mode).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334155"/>
                </a:solidFill>
              </a:rPr>
              <a:t>⎯⎯⎯⎯⎯⎯⎯⎯⎯⎯⎯⎯⎯⎯⎯⎯⎯⎯⎯⎯⎯⎯⎯⎯⎯⎯⎯⎯⎯⎯⎯⎯⎯⎯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IndicBERT SLM: </a:t>
            </a:r>
            <a:r>
              <a:rPr b="0" sz="950">
                <a:solidFill>
                  <a:srgbClr val="94A3B8"/>
                </a:solidFill>
              </a:rPr>
              <a:t>Fine-tuned multilingual transformer for regional Hindi &amp; Marathi news.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Video Deepfakes: </a:t>
            </a:r>
            <a:r>
              <a:rPr b="0" sz="950">
                <a:solidFill>
                  <a:srgbClr val="94A3B8"/>
                </a:solidFill>
              </a:rPr>
              <a:t>Frame-by-frame facial landmark jitter and audio spectral cloning.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304288"/>
            <a:ext cx="2499055" cy="4069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322576"/>
            <a:ext cx="222473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441448"/>
            <a:ext cx="209671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Stage 4: Verdict &amp; Output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Evidence Math E: </a:t>
            </a:r>
            <a:r>
              <a:rPr b="0" sz="950">
                <a:solidFill>
                  <a:srgbClr val="94A3B8"/>
                </a:solidFill>
              </a:rPr>
              <a:t>Deterministic bounded score E = 0.30M + 0.30C + 0.20F + 0.20S.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Contradiction Guard: </a:t>
            </a:r>
            <a:r>
              <a:rPr b="0" sz="950">
                <a:solidFill>
                  <a:srgbClr val="94A3B8"/>
                </a:solidFill>
              </a:rPr>
              <a:t>Flat -15 penalty applied when trusted sources explicitly debunk.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Verdict Hierarchy: </a:t>
            </a:r>
            <a:r>
              <a:rPr b="0" sz="950">
                <a:solidFill>
                  <a:srgbClr val="94A3B8"/>
                </a:solidFill>
              </a:rPr>
              <a:t>Maps to TRUSTED (E&gt;65), UNCERTAIN, SUSPICIOUS, or FAKE NEWS.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34D399"/>
                </a:solidFill>
              </a:rPr>
              <a:t>[DONE] Bilingual Verdicts: </a:t>
            </a:r>
            <a:r>
              <a:rPr b="0" sz="950">
                <a:solidFill>
                  <a:srgbClr val="94A3B8"/>
                </a:solidFill>
              </a:rPr>
              <a:t>Formatted English &amp; Hindi verdict cards returned to WhatsApp.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334155"/>
                </a:solidFill>
              </a:rPr>
              <a:t>⎯⎯⎯⎯⎯⎯⎯⎯⎯⎯⎯⎯⎯⎯⎯⎯⎯⎯⎯⎯⎯⎯⎯⎯⎯⎯⎯⎯⎯⎯⎯⎯⎯⎯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BBF24"/>
                </a:solidFill>
              </a:rPr>
              <a:t>[NOT DONE] Crowd Feedback: </a:t>
            </a:r>
            <a:r>
              <a:rPr b="0" sz="950">
                <a:solidFill>
                  <a:srgbClr val="94A3B8"/>
                </a:solidFill>
              </a:rPr>
              <a:t>User appeal portal &amp; community journalist dispute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PROJECT STATUS  •  </a:t>
            </a:r>
            <a:r>
              <a:rPr sz="1050" b="1">
                <a:solidFill>
                  <a:srgbClr val="38BDF8"/>
                </a:solidFill>
              </a:rPr>
              <a:t>[MILESTONES &amp; DELIVERY]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Progress, Empirical Verification &amp; Phase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365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4688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4D399"/>
                </a:solidFill>
              </a:defRPr>
            </a:pPr>
            <a:r>
              <a:t>80%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Total Pipeline Built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Core Engine, MV3 &amp; Bot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262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Automated Unit Tests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100% Pass Rate in Pytest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64592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C084FC"/>
                </a:solidFill>
              </a:defRPr>
            </a:pPr>
            <a:r>
              <a:t>&lt; 1.8s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Analysis Latency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End-to-End Corroboration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554480"/>
            <a:ext cx="2499055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45920"/>
            <a:ext cx="231617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F8FAFC"/>
                </a:solidFill>
              </a:defRPr>
            </a:pPr>
            <a:r>
              <a:t>Live Client Interfaces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Chrome Extension &amp; WhatsApp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5166360" cy="3337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990088"/>
            <a:ext cx="4892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108960"/>
            <a:ext cx="476402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34D399"/>
                </a:solidFill>
              </a:defRPr>
            </a:pPr>
            <a:r>
              <a:t>Completed Work (Phase 1 &amp; Phase 2 Delivered)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Core Verification Engine: </a:t>
            </a:r>
            <a:r>
              <a:rPr b="0" sz="950">
                <a:solidFill>
                  <a:srgbClr val="94A3B8"/>
                </a:solidFill>
              </a:rPr>
              <a:t>FastAPI backend running locally with zero heavy dependencies, sub-second claim extraction, and anti-SSRF firewall.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Parallel Cross-Checking: </a:t>
            </a:r>
            <a:r>
              <a:rPr b="0" sz="950">
                <a:solidFill>
                  <a:srgbClr val="94A3B8"/>
                </a:solidFill>
              </a:rPr>
              <a:t>Real-time Google News RSS query generator matching claims against Tier 1/2/3 wire services.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Multi-Modal Forensics: </a:t>
            </a:r>
            <a:r>
              <a:rPr b="0" sz="950">
                <a:solidFill>
                  <a:srgbClr val="94A3B8"/>
                </a:solidFill>
              </a:rPr>
              <a:t>Image C2PA manifest decoding, IPTC synthetic tagging, DeepMind SynthID identification, and stylometric LLM burstiness.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Dual User Interfaces: </a:t>
            </a:r>
            <a:r>
              <a:rPr b="0" sz="950">
                <a:solidFill>
                  <a:srgbClr val="94A3B8"/>
                </a:solidFill>
              </a:rPr>
              <a:t>Fully functional Manifest V3 Chrome Extension with Shadow DOM banner + Twilio WhatsApp Bot supporting bilingual English/Hindi output.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Production Robustness: </a:t>
            </a:r>
            <a:r>
              <a:rPr b="0" sz="950">
                <a:solidFill>
                  <a:srgbClr val="94A3B8"/>
                </a:solidFill>
              </a:rPr>
              <a:t>262 offline deterministic unit tests + 1-hour chaos soak test script guaranteeing 9 system invariants.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193792" cy="3337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990088"/>
            <a:ext cx="491947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108960"/>
            <a:ext cx="479145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BBF24"/>
                </a:solidFill>
              </a:defRPr>
            </a:pPr>
            <a:r>
              <a:t>Pending Work &amp; Phase 3 Roadmap (Next Steps)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Distributed Infrastructure: </a:t>
            </a:r>
            <a:r>
              <a:rPr b="0" sz="950">
                <a:solidFill>
                  <a:srgbClr val="94A3B8"/>
                </a:solidFill>
              </a:rPr>
              <a:t>Transitioning in-memory RSS caches to a multi-node Redis cluster for production scaling.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Fine-Tuned Multilingual SLM: </a:t>
            </a:r>
            <a:r>
              <a:rPr b="0" sz="950">
                <a:solidFill>
                  <a:srgbClr val="94A3B8"/>
                </a:solidFill>
              </a:rPr>
              <a:t>Training an IndicBERT model for deep contextual nuances in regional Hindi, Marathi, and Tamil news.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Real-Time Deepfake Video Analysis: </a:t>
            </a:r>
            <a:r>
              <a:rPr b="0" sz="950">
                <a:solidFill>
                  <a:srgbClr val="94A3B8"/>
                </a:solidFill>
              </a:rPr>
              <a:t>Integrating video frame facial landmark jitter and audio clone frequency spectral analysis.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Multi-Browser Ecosystem: </a:t>
            </a:r>
            <a:r>
              <a:rPr b="0" sz="950">
                <a:solidFill>
                  <a:srgbClr val="94A3B8"/>
                </a:solidFill>
              </a:rPr>
              <a:t>Porting the MV3 extension to Mozilla Firefox and Apple Safari desktop/iOS browsers.</a:t>
            </a:r>
          </a:p>
          <a:p>
            <a:pPr>
              <a:spcAft>
                <a:spcPts val="350"/>
              </a:spcAft>
            </a:pPr>
            <a:r>
              <a:rPr b="1" sz="1000">
                <a:solidFill>
                  <a:srgbClr val="F8FAFC"/>
                </a:solidFill>
              </a:rPr>
              <a:t>Community Feedback Portal: </a:t>
            </a:r>
            <a:r>
              <a:rPr b="0" sz="950">
                <a:solidFill>
                  <a:srgbClr val="94A3B8"/>
                </a:solidFill>
              </a:rPr>
              <a:t>Building a web-based public appeal dashboard where journalists can contest algorithmic flags.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